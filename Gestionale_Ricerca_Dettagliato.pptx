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80B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FFFFFF"/>
                </a:solidFill>
              </a:defRPr>
            </a:pPr>
            <a:r>
              <a:t>Gestionale Ricerca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t>Sistema Completo di Gestione Progetti e Risorse</a:t>
            </a:r>
            <a:br/>
            <a:r>
              <a:t>Documentazione Tecnica e Funzionale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Indice dei Contenuti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1. Architettura del Sistema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2. Modulo Progetti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3. Modulo Personale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4. Modulo Timesheet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5. Modulo Spesa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6. Modulo Rimborsi Spesa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7. Modulo Autorizzazioni Spesa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8. Modulo SAL (Stato Avanzamento Lavori)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9. Modulo Budget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10. Ruoli e Permessi Dettagliati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11. Sistema Notifiche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12. Documenti e Upload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13. Dashboard e Reporting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14. Sicurezza e Autenticazione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15. API Endpoints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16. Troubleshooting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Architettura del Sistema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STACK TECNOLOGICO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Backend: FastAPI + SQLAlchemy ORM + PostgreSQL 16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Frontend: React 18 + TypeScript + Ant Design 5 + React Query v5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Deployment: Docker Compose (6 container)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COMPONENTI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🔵 backend-1: API REST FastAPI (porta 8000)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⚛️  frontend-1: React SPA (porta 80 via nginx)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🐘 db-1: PostgreSQL 16 database (porta 5432)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🔄 backup-1: Backup automatico database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💻 missioni-1: App missioni legacy (porta 8001)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🌐 nginx: Reverse proxy (porta 80)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Schema Database - Entità Principali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CORE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persona (username, email, ruolo, data_inizio, data_fine)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dipartimento (nome, descrizione)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PROGETTO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progetto (codice, acronimo, stato, amministrativo_id, direttore_generale_id)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configurazione_progetto (wp_count, date_inizio, date_fine, finanziamento)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PERSONALE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allocazione (persona_id, progetto_id, ruolo, % FTE, is_pi, data_inizio, data_fine)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costo_orario_persona (persona_id, costo_orario, data_inizio, data_fine)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monte_ore_annuale (persona_id, anno, ore_disponibili)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Schema Database - Operazioni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TIMESHEET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timesheet (persona_id, progetto_id, settimana, ore, stato, firma_pi, firma_di)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riga_timesheet (timesheet_id, giorno, ore, wp_id)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SPESA E RIMBORSI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spesa (persona_id, progetto_id, importo, categoria, data, stato)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rimborso_spesa (persona_id, progetto_id, importo, data_richiesta, stato)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autorizzazione_spesa (persona_id, progetto_id, importo, wp_id, stato_approvazione)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SAL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sal (progetto_id, numero, stato, data_invio, data_scadenza_rendiconto)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Schema Database - Budget e Notifiche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BUDGET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budget (progetto_id, wp_id, voce_costo, importo_allocato, importo_disponibile)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voce_costo (nome, categoria, descrizione, usabile)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allocazione_budget (progetto_id, wp_id, voce_costo, importo, step_temporale)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NOTIFICHE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notifica (persona_id, tipo, titolo, messaggio, link, letta, richiede_azione,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  urgente, created_at, riferimento_id)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DOCUMENTI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documento (progetto_id, nome, percorso, data_upload, uploadato_da)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Modulo Progetti -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FUNZIONALITÀ PRINCIPALI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Creazione progetti (solo superadmin)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Configurazione: WP (work package), date, finanziamento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Attivazione progetti (admin/superadmin)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Chiusura progetti (admin/superadmin)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Gestione amministratori (assegnazione amministrativo_id)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Visualizzazione cruscotto con metriche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DATI ESSENZIALI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Codice univoco + Acronimo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Direttore generale (firma finale)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Data inizio/fine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Finanziamento tipo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Numero WP (1-5 tipicamente)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Modulo Progetti - Configurazione WP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WORK PACKAGE (WP)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Suddivisione logica del progetto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Ogni WP ha: numero, descrizione, % allocazione ore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WP collega timesheet, spese e autorizzazioni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CONFIGURAZIONE BUDGET PER WP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Allocazione voci costo per WP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Definizione importi per voce e WP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Disponibilità budget monitorato in tempo reale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STATO PROGETTO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In fase di setup → Attivo → Chiuso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Transizioni verificate per permessi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Modulo Personale - Gestione Persone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CREAZIONE PERSONA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📋 Dati: nome, cognome, email, username (nome.cognome)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📋 Ruolo iniziale (ricercatore, direttore, monitor, ecc.)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📋 Data inizio/fine contratto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📋 Dipartimento di afferenza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GESTIONE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Modifica dati (solo admin/superadmin su altri)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Disattivazione (end-date storico)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Reset password (solo superadmin, per utenti)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Cambio password (utente per se stesso)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PERMESSI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SUPERADMIN: accesso completo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AMMINISTRATIVO: modifica personale per proprio progetto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Modulo Personale - Costi Orari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COSTO ORARIO PERSONA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💰 Tariffazione per persona + data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💰 Usato per calcoli rimborsi e budget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💰 Valido dal data_inizio al data_fine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GESTIONE COSTI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Inserimento per persona (admin/superadmin)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NUOVO: Modifica costo orario e motivazione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NUOVO: Eliminazione voci obsolete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Storico non eliminato (soft delete concept)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UTILIZZI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Calcolo rimborso spesa = ore * costo_orario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Planning budget per WP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Tracking costo reale vs budget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Modulo Personale - Allocazioni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ALLOCAZIONE PERSONA A PROGETTO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🔗 Assegnazione persona + ruolo + % FTE al progetto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🔗 Periodi: data_inizio, data_fine (gestione timeline)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🔗 Ruolo: ricercatore, PI (Principal Investigator), direttore, ecc.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IDENTIFICAZIONE PI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PI determinato da: allocazione.is_pi = True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PI ha permesso di firmare timesheet (firma 1°)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Solo 1 PI per progetto idealmente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FTE (Full Time Equivalent)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100% = full time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50% = part time su quel progetto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Usato per calcoli ore disponibili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Modulo Personale - Monte Ore Annuale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MONTE ORE ANNUALE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📅 Ore disponibili per persona per anno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📅 Base: 1720 ore/anno (standard)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📅 Modifiabile dall'admin per esigenze specifiche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UTILIZZO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Limite massimo ore compilabili in timesheet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Consumo tracciato per anno solare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Alert se prossimo al limite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Ripristino automatico gennaio anno successivo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GESTIONE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Visualizzazione consumo per persona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Modifica admin (riduzione per assenza, ecc.)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Modulo Timesheet - Compilazione e Struttura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TIMESHEET SETTIMANALE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⏱️  Compilazione per settimana (lunedì-domenica)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⏱️  Per ogni giorno: selezione ore + WP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⏱️  Totale giorno max = 8 ore, totale settimana = 40 ore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DATI TIMESHEET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Persona + Progetto + Settimana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Stato: draft → inviato → approvato → firmato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Firma 1° (PI): verifica ore e allocazione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Firma 2° (Dir. Istituto): firma definitiva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VALIDAZIONI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Non superare monte ore annuale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Non modificare settimane chiuse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WP deve appartenere al progetto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Modulo Timesheet - Flusso Approvazione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FLUSSO COMPLETO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1️⃣  RICERCATORE compila ore per settimana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2️⃣  Invia timesheet a sistema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3️⃣  PI (Principal Investigator) riceve notifica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4️⃣  PI verifica e firma (firma 1° = OK tecnico)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5️⃣  Dir. Istituto riceve notifica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6️⃣  Dir. Istituto firma (firma 2° = OK definitivo)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7️⃣  Timesheet approvato → storico locked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PERMESSI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ricercatore: compila propri timesheet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ricercatore (PI): firma timesheet ricercatori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amministrativo: firma 2° (Dir. Istituto role)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Modulo Spesa - Registrazione e Categorie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REGISTRAZIONE SPESA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💸 Ricercatore registra spesa con: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  • Importo, categoria, data, descrizione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  • WP afferente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  • Allegato/documentazione (ricevuta)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CATEGORIE SPESA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Trasporti (voli, treni, taxi)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Vitto e alloggio (hotel, meals)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Equipaggiamento (strumenti, software)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Consulenze esterne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Servizi (stampa, traduzione)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Altro (da descrivere)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STATO SPESA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draft → inviata → autorizzata → pagata → archiviata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Modulo Spesa - Flusso Autorizzazione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FLUSSO APPROVAZIONE SPESA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1️⃣  RICERCATORE registra spesa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2️⃣  AMMINISTRATIVO riceve notifica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3️⃣  AMMINISTRATIVO approva/rifiuta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   → se OK: passa a pagamento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   → se KO: torna a ricercatore con motivazione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PERMESSI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ricercatore: registra spese proprie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amministrativo: autorizza per proprio progetto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superadmin: autorizza per tutti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CANCELLAZIONE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Ricercatore: solo draft (non inviata)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Amministrativo: da draft a autorizzata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Modulo Rimborsi Spesa - Richiesta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RIMBORSO SPESA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💵 Ricercatore crea rimborso per spesa personale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💵 Causali: trasferta, evento, equipaggiamento proprio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💵 Importo: inserito manualmente o calcolato (ore * costo_orario)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DATI RIMBORSO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Persona + Progetto + Importo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Descrizione spesa + data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Eventualmente legato a spesa registrata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Documentazione allegata (ricevute)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STATO INIZIALE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draft → inviato (attende autorizzazione)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Modulo Rimborsi Spesa - Flusso Approvazione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FLUSSO 5 STEP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1️⃣  RICERCATORE invia rimborso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2️⃣  AMMINISTRATIVO verifica e autorizza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3️⃣  RESPONSABILE SCIENTIFICO (RS) approva merito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4️⃣  DIRETTORE DIPARTIMENTO autorizza budget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5️⃣  DIRETTORE GENERALE firma e erogazione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NOTIFICHE AD OGNI STEP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🔔 Notifica a ogni persona per azione richiesta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🔔 Rimane visible finché non completato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🔔 Alert urgente se in scadenza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RIFIUTO INTERMEDIO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→ Rimborso torna a ricercatore con motivazione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Modulo Autorizzazioni Spesa -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RICHIESTA AUTORIZZAZIONE SPESA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🔐 Ricercatore richiede autorizzazione per spesa programmata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🔐 Prima di sostenere la spesa (a differenza rimborso)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🔐 Utile per: acquisti, equipaggiamento, servizi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DATI AUTORIZZAZIONE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Persona + Progetto + Importo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Descrizione spesa + motivazione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WP afferente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Budget disponibile verificato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STATO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draft → inviata → autorizzata → in erogazione → erogata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Modulo Autorizzazioni Spesa - Flusso 4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FLUSSO APPROVAZIONE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1️⃣  RICERCATORE invia richiesta autorizzazione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2️⃣  AMMINISTRATIVO verifica budget e autorizza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3️⃣  RESPONSABILE SCIENTIFICO approva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4️⃣  DIRETTORE GENERALE firma autorizzazione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INTEGRAZIONE BUDGET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Sistema verifica budget disponibile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Decrementa automaticamente se autorizzato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Alert se budget insufficiente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DIFFERENZA DA RIMBORSO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AUTORIZZAZIONE: pre-approval, blocca budget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RIMBORSO: post-facto, rimborsa importo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Modulo SAL - Creazione e Invio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SAL (Stato Avanzamento Lavori)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📊 Rendicontazione progressiva del progetto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📊 Suddiviso per WP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📊 Traccia: ore, spese, deliverable per periodo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CREAZIONE SAL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Amministrativo crea SAL (numero sequenziale)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Periodo: data_inizio - data_fine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Compila dati per WP (ore erogate, % avanzamento)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Allegati: documenti, relazioni, evidence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STATO INIZIALE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draft → invio → contesto (eventuale) → rendicontato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Modulo SAL - Flusso Autorizzazione e Erogazione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FLUSSO SAL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1️⃣  AMMINISTRATIVO crea e invia SAL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2️⃣  RESPONSABILE SCIENTIFICO verifica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3️⃣  DIRETTORE DIPARTIMENTO autorizza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4️⃣  DIRETTORE GENERALE approva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5️⃣  Sistema genera EROGAZIONE automatica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CONTESTAZIONE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RS/Dir. Dip: contesta SAL se non conforme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Torna a admin con motivazione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Admin modifica e ri-invia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SCADENZE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🔔 Notifica urgente se scadenza &lt; 7 giorni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Modulo SAL - Dati Rendicontati per WP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PER OGNI WP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Ore rendicontate (da timesheet)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Spese sostenute (da rimborsi approvati)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% Avanzamento lavori (manuale)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Deliverable completati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Rischi e mitigazioni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Prossimi step programmati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CALCOLI AUTOMATICI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Ore totali dal timesheet storico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Importi da rimborsi + autorizzazioni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Rapporto vs budget allocato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ALLEGATI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📎 Relazione tecnica per WP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📎 Report spese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📎 Evidence (foto, documenti)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Modulo Budget - Gestione e Allocazione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VOCI DI COSTO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💳 Catalogo voci: Personale, Equipaggiamento, Servizi, Missioni, Altro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💳 Abilitazione per progetto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💳 Descrizione e categoria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ALLOCAZIONE A PROGETTO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Importo totale per voce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Sub-allocazione per WP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Distribuzione temporale (step)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Traccia consumo vs allocato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MODIFICA VOCI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Admin: modifica importi (se disponibilità)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Inserimento voce inline in allocazione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Vincoli: non scendere sotto 0, non superare totale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Modulo Budget - Monitoraggio e Avanzamento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DASHBOARD BUDGET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📈 Visualizzazione real-time per WP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📈 Grafico allocato vs consumato vs disponibile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📈 Alert se consumo &gt; 80% allocato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CONSUMO TRACCIATO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Rimborsi approvati detraggono budget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Autorizzazioni blocca budget (reserve)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SAL rendicontate consolidano consumo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RAPPORTI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📊 Export budget vs consuntivo per WP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📊 Forecast completamento base consumo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📊 Identificazione rischi budget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Ruoli - SUPERADMIN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Permessi Principali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3931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100"/>
            </a:pPr>
            <a:r>
              <a:t>👑 Accesso totale a tutte le funzioni</a:t>
            </a:r>
          </a:p>
          <a:p>
            <a:pPr>
              <a:spcBef>
                <a:spcPts val="400"/>
              </a:spcBef>
              <a:defRPr sz="1100"/>
            </a:pPr>
            <a:r>
              <a:t>👑 Gestione utenti (crea, modifica, rimuove)</a:t>
            </a:r>
          </a:p>
          <a:p>
            <a:pPr>
              <a:spcBef>
                <a:spcPts val="400"/>
              </a:spcBef>
              <a:defRPr sz="1100"/>
            </a:pPr>
            <a:r>
              <a:t>👑 Reset password utenti</a:t>
            </a:r>
          </a:p>
          <a:p>
            <a:pPr>
              <a:spcBef>
                <a:spcPts val="400"/>
              </a:spcBef>
              <a:defRPr sz="1100"/>
            </a:pPr>
            <a:r>
              <a:t>👑 Creazione progetti</a:t>
            </a:r>
          </a:p>
          <a:p>
            <a:pPr>
              <a:spcBef>
                <a:spcPts val="400"/>
              </a:spcBef>
              <a:defRPr sz="1100"/>
            </a:pPr>
            <a:r>
              <a:t>👑 Gestione dipartimenti</a:t>
            </a:r>
          </a:p>
          <a:p>
            <a:pPr>
              <a:spcBef>
                <a:spcPts val="400"/>
              </a:spcBef>
              <a:defRPr sz="1100"/>
            </a:pPr>
            <a:r>
              <a:t>👑 Override autorizzazioni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00584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Funzioni Specifiche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463040"/>
            <a:ext cx="3931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100"/>
            </a:pPr>
            <a:r>
              <a:t>• Login: accesso illimitato</a:t>
            </a:r>
          </a:p>
          <a:p>
            <a:pPr>
              <a:spcBef>
                <a:spcPts val="400"/>
              </a:spcBef>
              <a:defRPr sz="1100"/>
            </a:pPr>
            <a:r>
              <a:t>• Progetto: crea, attiva, chiude tutti</a:t>
            </a:r>
          </a:p>
          <a:p>
            <a:pPr>
              <a:spcBef>
                <a:spcPts val="400"/>
              </a:spcBef>
              <a:defRPr sz="1100"/>
            </a:pPr>
            <a:r>
              <a:t>• Personale: gestisci tutti utenti</a:t>
            </a:r>
          </a:p>
          <a:p>
            <a:pPr>
              <a:spcBef>
                <a:spcPts val="400"/>
              </a:spcBef>
              <a:defRPr sz="1100"/>
            </a:pPr>
            <a:r>
              <a:t>• Budget: modifica importi</a:t>
            </a:r>
          </a:p>
          <a:p>
            <a:pPr>
              <a:spcBef>
                <a:spcPts val="400"/>
              </a:spcBef>
              <a:defRPr sz="1100"/>
            </a:pPr>
            <a:r>
              <a:t>• Approvazioni: firma qualsiasi step</a:t>
            </a:r>
          </a:p>
          <a:p>
            <a:pPr>
              <a:spcBef>
                <a:spcPts val="400"/>
              </a:spcBef>
              <a:defRPr sz="1100"/>
            </a:pPr>
            <a:r>
              <a:t>• Report: esporta tutti dati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Ruoli - AMMINISTRATIVO (Project Admin)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Permessi Principali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3931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100"/>
            </a:pPr>
            <a:r>
              <a:t>📊 Gestione progetto assegnato</a:t>
            </a:r>
          </a:p>
          <a:p>
            <a:pPr>
              <a:spcBef>
                <a:spcPts val="400"/>
              </a:spcBef>
              <a:defRPr sz="1100"/>
            </a:pPr>
            <a:r>
              <a:t>📊 Gestione personale progetto</a:t>
            </a:r>
          </a:p>
          <a:p>
            <a:pPr>
              <a:spcBef>
                <a:spcPts val="400"/>
              </a:spcBef>
              <a:defRPr sz="1100"/>
            </a:pPr>
            <a:r>
              <a:t>📊 Configurazione budget</a:t>
            </a:r>
          </a:p>
          <a:p>
            <a:pPr>
              <a:spcBef>
                <a:spcPts val="400"/>
              </a:spcBef>
              <a:defRPr sz="1100"/>
            </a:pPr>
            <a:r>
              <a:t>📊 Autorizzazione spese</a:t>
            </a:r>
          </a:p>
          <a:p>
            <a:pPr>
              <a:spcBef>
                <a:spcPts val="400"/>
              </a:spcBef>
              <a:defRPr sz="1100"/>
            </a:pPr>
            <a:r>
              <a:t>📊 Creazione SAL</a:t>
            </a:r>
          </a:p>
          <a:p>
            <a:pPr>
              <a:spcBef>
                <a:spcPts val="400"/>
              </a:spcBef>
              <a:defRPr sz="1100"/>
            </a:pPr>
            <a:r>
              <a:t>📊 Approvazione step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00584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Funzioni Specifiche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463040"/>
            <a:ext cx="3931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100"/>
            </a:pPr>
            <a:r>
              <a:t>• Progetto: attiva, chiude, modifica config</a:t>
            </a:r>
          </a:p>
          <a:p>
            <a:pPr>
              <a:spcBef>
                <a:spcPts val="400"/>
              </a:spcBef>
              <a:defRPr sz="1100"/>
            </a:pPr>
            <a:r>
              <a:t>• Personale: aggiungi, modifica, rimuovi</a:t>
            </a:r>
          </a:p>
          <a:p>
            <a:pPr>
              <a:spcBef>
                <a:spcPts val="400"/>
              </a:spcBef>
              <a:defRPr sz="1100"/>
            </a:pPr>
            <a:r>
              <a:t>• Costi: gestisci costi orari + monte ore</a:t>
            </a:r>
          </a:p>
          <a:p>
            <a:pPr>
              <a:spcBef>
                <a:spcPts val="400"/>
              </a:spcBef>
              <a:defRPr sz="1100"/>
            </a:pPr>
            <a:r>
              <a:t>• Budget: alloca per WP</a:t>
            </a:r>
          </a:p>
          <a:p>
            <a:pPr>
              <a:spcBef>
                <a:spcPts val="400"/>
              </a:spcBef>
              <a:defRPr sz="1100"/>
            </a:pPr>
            <a:r>
              <a:t>• Spesa: autorizza 1° livello</a:t>
            </a:r>
          </a:p>
          <a:p>
            <a:pPr>
              <a:spcBef>
                <a:spcPts val="400"/>
              </a:spcBef>
              <a:defRPr sz="1100"/>
            </a:pPr>
            <a:r>
              <a:t>• Visualizza: solo proprio progetto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Ruoli - RICERCATORE e 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Ricercatore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3931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100"/>
            </a:pPr>
            <a:r>
              <a:t>👨‍🔬 Compila timesheet</a:t>
            </a:r>
          </a:p>
          <a:p>
            <a:pPr>
              <a:spcBef>
                <a:spcPts val="400"/>
              </a:spcBef>
              <a:defRPr sz="1100"/>
            </a:pPr>
            <a:r>
              <a:t>👨‍🔬 Registra spese</a:t>
            </a:r>
          </a:p>
          <a:p>
            <a:pPr>
              <a:spcBef>
                <a:spcPts val="400"/>
              </a:spcBef>
              <a:defRPr sz="1100"/>
            </a:pPr>
            <a:r>
              <a:t>👨‍🔬 Richiede rimborsi</a:t>
            </a:r>
          </a:p>
          <a:p>
            <a:pPr>
              <a:spcBef>
                <a:spcPts val="400"/>
              </a:spcBef>
              <a:defRPr sz="1100"/>
            </a:pPr>
            <a:r>
              <a:t>👨‍🔬 Richiede autorizzazioni</a:t>
            </a:r>
          </a:p>
          <a:p>
            <a:pPr>
              <a:spcBef>
                <a:spcPts val="400"/>
              </a:spcBef>
              <a:defRPr sz="1100"/>
            </a:pPr>
            <a:r>
              <a:t>👨‍🔬 Visualizza proprio progetto</a:t>
            </a:r>
          </a:p>
          <a:p>
            <a:pPr>
              <a:spcBef>
                <a:spcPts val="400"/>
              </a:spcBef>
              <a:defRPr sz="1100"/>
            </a:pPr>
            <a:r>
              <a:t>👨‍🔬 Carica documenti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00584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PI (Principal Investigator)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463040"/>
            <a:ext cx="3931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100"/>
            </a:pPr>
            <a:r>
              <a:t>• Tutti diritti ricercatore</a:t>
            </a:r>
          </a:p>
          <a:p>
            <a:pPr>
              <a:spcBef>
                <a:spcPts val="400"/>
              </a:spcBef>
              <a:defRPr sz="1100"/>
            </a:pPr>
            <a:r>
              <a:t>• Firma timesheet (firma 1°)</a:t>
            </a:r>
          </a:p>
          <a:p>
            <a:pPr>
              <a:spcBef>
                <a:spcPts val="400"/>
              </a:spcBef>
              <a:defRPr sz="1100"/>
            </a:pPr>
            <a:r>
              <a:t>• Approva ore team</a:t>
            </a:r>
          </a:p>
          <a:p>
            <a:pPr>
              <a:spcBef>
                <a:spcPts val="400"/>
              </a:spcBef>
              <a:defRPr sz="1100"/>
            </a:pPr>
            <a:r>
              <a:t>• Riceve notifiche approvazione</a:t>
            </a:r>
          </a:p>
          <a:p>
            <a:pPr>
              <a:spcBef>
                <a:spcPts val="400"/>
              </a:spcBef>
              <a:defRPr sz="1100"/>
            </a:pPr>
            <a:r>
              <a:t>• Accesso report timesheet</a:t>
            </a:r>
          </a:p>
          <a:p>
            <a:pPr>
              <a:spcBef>
                <a:spcPts val="400"/>
              </a:spcBef>
              <a:defRPr sz="1100"/>
            </a:pPr>
            <a:r>
              <a:t>• Validazione ore per WP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Ruoli - DIRETTORE GENERALE e 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Direttore Generale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3931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100"/>
            </a:pPr>
            <a:r>
              <a:t>🎓 Firma 2° timesheet</a:t>
            </a:r>
          </a:p>
          <a:p>
            <a:pPr>
              <a:spcBef>
                <a:spcPts val="400"/>
              </a:spcBef>
              <a:defRPr sz="1100"/>
            </a:pPr>
            <a:r>
              <a:t>🎓 Approva rimborsi (step 5)</a:t>
            </a:r>
          </a:p>
          <a:p>
            <a:pPr>
              <a:spcBef>
                <a:spcPts val="400"/>
              </a:spcBef>
              <a:defRPr sz="1100"/>
            </a:pPr>
            <a:r>
              <a:t>🎓 Approva autorizzazioni (step 4)</a:t>
            </a:r>
          </a:p>
          <a:p>
            <a:pPr>
              <a:spcBef>
                <a:spcPts val="400"/>
              </a:spcBef>
              <a:defRPr sz="1100"/>
            </a:pPr>
            <a:r>
              <a:t>🎓 Approva SAL (step 4)</a:t>
            </a:r>
          </a:p>
          <a:p>
            <a:pPr>
              <a:spcBef>
                <a:spcPts val="400"/>
              </a:spcBef>
              <a:defRPr sz="1100"/>
            </a:pPr>
            <a:r>
              <a:t>🎓 Autorizza erogazioni</a:t>
            </a:r>
          </a:p>
          <a:p>
            <a:pPr>
              <a:spcBef>
                <a:spcPts val="400"/>
              </a:spcBef>
              <a:defRPr sz="1100"/>
            </a:pPr>
            <a:r>
              <a:t>🎓 Visualizza tutti progetti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00584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Resp. Scientifico (RS)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463040"/>
            <a:ext cx="3931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100"/>
            </a:pPr>
            <a:r>
              <a:t>• Approva rimborsi (step 3)</a:t>
            </a:r>
          </a:p>
          <a:p>
            <a:pPr>
              <a:spcBef>
                <a:spcPts val="400"/>
              </a:spcBef>
              <a:defRPr sz="1100"/>
            </a:pPr>
            <a:r>
              <a:t>• Approva autorizzazioni (step 2)</a:t>
            </a:r>
          </a:p>
          <a:p>
            <a:pPr>
              <a:spcBef>
                <a:spcPts val="400"/>
              </a:spcBef>
              <a:defRPr sz="1100"/>
            </a:pPr>
            <a:r>
              <a:t>• Verifica SAL (step 2)</a:t>
            </a:r>
          </a:p>
          <a:p>
            <a:pPr>
              <a:spcBef>
                <a:spcPts val="400"/>
              </a:spcBef>
              <a:defRPr sz="1100"/>
            </a:pPr>
            <a:r>
              <a:t>• Contesta rendicontazioni</a:t>
            </a:r>
          </a:p>
          <a:p>
            <a:pPr>
              <a:spcBef>
                <a:spcPts val="400"/>
              </a:spcBef>
              <a:defRPr sz="1100"/>
            </a:pPr>
            <a:r>
              <a:t>• Visualizza progetti afferenti</a:t>
            </a:r>
          </a:p>
          <a:p>
            <a:pPr>
              <a:spcBef>
                <a:spcPts val="400"/>
              </a:spcBef>
              <a:defRPr sz="1100"/>
            </a:pPr>
            <a:r>
              <a:t>• Report avanzamento scientifico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Ruoli - MONITOR e DIR. ISTITUTO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MONITOR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📊 Accesso lettura-sola a: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   • Timesheet di tutti i progett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   • SAL e rendicontazioni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   • Budget per progetto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   • Report analitici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NO: modifica, approvazione, accesso dati sensibili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DIRETTORE ISTITUTO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🏢 Firma 2° timesheet (alternativa Dir. Gen.)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🏢 Approva per aspetti amministrativi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🏢 Visualizza timesheet team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🏢 Accesso report paga/costi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Sistema Notifiche - Architettura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MODELLO NOTIFICHE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🔔 Creazione automatica su azioni chiave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🔔 Persistent in DB (non volatile)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🔔 Filtro intelligente per ruolo destinatario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CAMPI CHIAVE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tipo: categoria (approva, invia, contesta, ecc.)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titolo: oggetto breve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messaggio: dettagli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link: rimando diretto documento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letta: flag lettura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richiede_azione: flag azione pending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urgente: flag urgenza (scadenza SAL)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created_at: timestamp creazione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Sistema Notifiche - Ciclo di Vita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CREAZIONE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1. Sistema genera notifica su evento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2. Salva in DB con letta=false, richiede_azione=true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3. Frontend riceve e mostra badge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VISUALIZZAZIONE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Filtro: letta=false OR richiede_azione=true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Rimangono visibili anche dopo lettura se azione pending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Ordinamento: ultimissime first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COMPLETAMENTO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Quando azione completata: segna_lette_per_link()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Imposta: letta=true AND richiede_azione=false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Notifica scompare dal filtro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Sistema Notifiche - Tipi e Trigger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TIMESHEET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invia_timesheet → PI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firma1_richiesta → PI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firma2_richiesta → Dir. Istituto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approvato → Ricercatore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SPESE E RIMBORSI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rimborso_inviato → Admin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rimborso_approva_[step] → prossimo approver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rimborso_erogato → Ricercatore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rimborso_rifiutato → Ricercatore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SAL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sal_scadenza → Admin (&lt; 30 giorni)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sal_inviato → RS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sal_erogato → Admin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Sistema Notifiche - Urgenza e Scadenza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FLAG URGENTE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⚠️  Attivato per notifiche SAL scadenza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⚠️  Condizione: data_scadenza_rendiconto &lt;= 7 giorni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⚠️  Visualizzazione: badge rosso, top priority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SCADENZE MONITORATE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📅 SAL rendiconto: notifica 30gg prima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📅 Aumenta urgenza: 7gg prima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📅 Calcolo: (scadenza - oggi).days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AZIONI NOTIFICA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Segna letta: solo per notifiche letture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Click link: vai direttamente al documento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Segna tutte lette: solo non-action pending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Modulo Documenti - Upload e Gestione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UPLOAD DOCUMENTI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📎 Ricercatore/Admin: carica file per progetto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📎 Tipi supportati: PDF, Word, Excel, immagini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📎 Limiti: max 10MB per file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TRACCIAMENTO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Nome file + data upload + uploadato_da (persona)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Categorizzazione: relazione, spese, evidence, altro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Visibilità: per ruolo (admin full access)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UTILIZZO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Allegato SAL rendicontazioni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Supporto rimborsi (ricevute)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Evidence WP completati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Repository centralizzato progetto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Dashboard - Cruscotto Progetto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METRICHE VISUALIZZATE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📊 Ore: totale allocate, consumate, % avanzamento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📊 Budget: allocato, consumato, disponibile, % utilizzo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📊 Timesheet: approvati, pending, da fare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📊 Rimborsi: totale, approvati, in corso, rifiutati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📊 SAL: numero, stato ultimo, scadenza prossimo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FILTRI E SORTER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Per WP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Per periodo (mese, trimestre, anno)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Per persona (admin view)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Export CSV/Excel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Reporting e Export Dati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REPORT DISPONIBILI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📈 Timesheet consolidato (ore per WP, per persona)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📈 Budget vs consuntivo per progetto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📈 Spese per categoria e periodo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📈 SAL rendicontate (tutti WP, periodi)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📈 Costi personale (ore * costo_orario)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EXPORT FORMATI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📥 CSV: per analisi in Excel/Sheets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📥 PDF: per report formali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📥 Excel: con formule e pivot table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PERMESSI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Admin: proprio progetto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Dir. Gen: tutti progetti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• Monitor: tutti (lettura-sola)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Sicurezza - Autenticazione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LOGIN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🔐 Username: formato nome.cognome (es. giuseppe.depietro)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🔐 Password: criteri sicurezza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   - Lunghezza min 8 caratteri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   - 1 maiuscola, 1 minuscola, 1 numero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   - 1 carattere speciale (!@#$%)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JWT TOKEN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Generato al login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Scadenza: 480 minuti (8 ore)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Refresh token per sessione prolungata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Incluso ruolo e persona_id nel payload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SESSION HANDLING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Token in localStorage (client)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Logout: cancella token e database session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Sicurezza - RBAC e Autorizzazione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RBAC (Role-Based Access Control)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🔒 Ogni endpoint verifica ruolo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🔒 Permessi: lista di azioni per ruolo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🔒 Azione es: 'progetto:crea', 'personale:gestisci'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FRONTEND GUARD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RbacGuard component per UI condizionale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Nasconde pulsanti se ruolo non permesso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Previene tentativo API non autorizzato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BACKEND VALIDATION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Decorator @solo_amministrativo, @tutti_i_ruoli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Verifica ruolo + accesso dati per progetto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Ritorna 403 Forbidden se non autorizzato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Sicurezza - Validazione e Protezione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INPUT VALIDATION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✅ Schema Pydantic per tutti endpoint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✅ Validazione lunghezza stringhe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✅ Validazione numeri (range, positività)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✅ Validazione date (logica, no future)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SQL INJECTION PREVENTION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✅ SQLAlchemy ORM (no raw SQL)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✅ Parametrized queries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✅ Input escaping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XSS PREVENTION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✅ React auto-escape in render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✅ DOMPurify per HTML risk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✅ No dangerouslySetInnerHTML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API Endpoints - Autenticazione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POST /api/v1/auth/login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Request: {username, password}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Response: {access_token, token_type, user_id, ruolo}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POST /api/v1/auth/logout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Request: (token in header)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Response: {ok: true}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POST /api/v1/auth/refresh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Request: {refresh_token}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Response: {access_token}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PATCH /api/v1/persone/{id}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Request: {password, ...altri campi}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Response: {id, username, email, ...}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API Endpoints - Progetti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GET /api/v1/progetti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Query: ?attivo=true, ?search=..., ?page_size=50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Response: {data: [progetti], meta: {totale}}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POST /api/v1/progetti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Body: {codice, acronimo, direttore_generale_id, ...}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Response: {id, codice, ...}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PATCH /api/v1/progetti/{id}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Body: {stato, configurazione, ...}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Response: {id, stato, ...}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GET /api/v1/progetti/{id}/cruscotto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Response: {metriche: {ore, budget, timesheet, ...}}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API Endpoints - Notifiche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GET /api/v1/notifiche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Response: {data: [notifiche], meta: {totale}}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Filter: letta=false OR richiede_azione=true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POST /api/v1/notifiche/{id}/letta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Body: {}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Response: {ok: true}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POST /api/v1/notifiche/leggi-tutte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Body: {}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Effetto: letta=true, richiede_azione=false per tutte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GET /api/v1/sal-notifiche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Response: {data: [notifiche SAL], meta: {}}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API Endpoints - Timesheet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GET /api/v1/progetti/{id}/timesheet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Query: ?settimana=2026-W01, ?persona_id=...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Response: {data: [timesheet]}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POST /api/v1/timesheet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Body: {progetto_id, settimana, ore_per_giorno, wp_id}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Response: {id, stato: 'draft'}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PATCH /api/v1/timesheet/{id}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Body: {ore_per_giorno, wp_id}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Response: {id, ...aggiornato}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POST /api/v1/timesheet/{id}/invia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Body: {}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Effetto: stato → 'inviato', notifica PI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API Endpoints - Personale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GET /api/v1/persone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Query: ?attivo=true, ?search=..., ?ruolo=...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Response: {data: [persone], meta: {totale}}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POST /api/v1/persone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Body: {nome, cognome, email, username, ruolo, dipartimento_id}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Response: {id, username, ...}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POST /api/v1/persone/{id}/costi-orari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Body: {costo_orario, data_inizio, data_fine, motivazione}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Response: {id, costo_orario, ...}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PATCH /api/v1/persone/{id}/costi-orari/{costo_id}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Body: {costo_orario, motivazione}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Response: {id, ...aggiornato}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Troubleshooting - Errori Comuni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401 UNAUTHORIZED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Causa: Token scaduto o mancante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Soluzione: Logout e login di nuovo, verifica token in header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403 FORBIDDEN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Causa: Ruolo non ha permessi per azione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Soluzione: Contatta admin per upgrade ruolo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404 NOT FOUND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Causa: Risorsa non esiste o URL sbagliato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Soluzione: Verifica ID risorsa, controlla routing API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500 INTERNAL SERVER ERROR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Causa: Errore backend (bug, DB down, ecc.)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Soluzione: Controlla log backend, contatta support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Troubleshooting - Performance e Bug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NOTIFICHE SCOMPAIONO DOPO 'SEGNA TUTTE LETTE'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FISSO: invalidateQueries() forzoa refetch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Non usa più optimistic update (era buggy)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ROUTER CONFLICT /notifiche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FISSO: sal.py renamed endpoint a /sal-notifiche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Evita shadowing di notifiche.py /notifiche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COSTI ORARI NON MODIFICABILI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FISSO: aggiunto PATCH e DELETE endpoint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Frontend: buttons edit/delete con modals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PASSWORD RESET: SOLO SUPERADMIN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FISSO: RBAC guard + messaggio UIchiaro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Best Practices -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BACKEND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Usa SQLAlchemy ORM (no raw SQL)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Validate input con Pydantic schemas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Usa dependency injection (Depends)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Logging per debug (logger.info/error)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Test endpoints con pytest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FRONTEND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React Query per state (non useState)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TypeScript per type safety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RbacGuard per conditional UI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Ant Design per componenti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Loader/skeleton durante fetch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Best Practices - Database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SCHEMA CHANGES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No Alembic: direct ALTER TABLE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Sempre backup prima di alter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Backfill data se aggiunto NOT NULL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Test schema localmente prima deploy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QUERIES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Usa .join() per relazioni (no N+1)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.limit() per pagine (max 50 record)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Index su foreign keys e filter fields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PERFORMANCE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Denormalize se query complessa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Caching per dati statici (progetti, ruoli)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Deployment e Maintenance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DEPLOYMENT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🐳 Docker Compose con 6 container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🐳 Volume mount per codice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🐳 Network docker-compose per comunicazione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🐳 Backup postgres in separate container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UPGRADE CODICE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git pull origin main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docker compose restart backend frontend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Schema changes: ALTER TABLE via psql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Verifica log: docker compose logs -f backend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MONITORAGGIO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Health check endpoint: GET /health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Log errors in backend logs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✓ Notifiche in-app per alert system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</a:defRPr>
            </a:pPr>
            <a:r>
              <a:t>Roadmap e Miglioramenti Futuri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IN CORSO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🔄 Sistema notifiche con richiede_azione completo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🔄 Gestione costi orari (edit/delete)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🔄 Password security e reset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PIANIFICATO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📋 Email notifiche (istanza esterna)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📋 Integrazione con gestione paga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📋 Mobile app iOS/Android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📋 Sincronizzazione con Jira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📋 Dashboard analytics avanzata</a:t>
            </a:r>
          </a:p>
          <a:p>
            <a:pPr>
              <a:spcBef>
                <a:spcPts val="600"/>
              </a:spcBef>
              <a:spcAft>
                <a:spcPts val="0"/>
              </a:spcAft>
              <a:defRPr sz="1300"/>
            </a:pPr>
            <a:r>
              <a:t>📋 Audit log completo (chi-cosa-quando)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80B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FFFFFF"/>
                </a:solidFill>
              </a:defRPr>
            </a:pPr>
            <a:r>
              <a:t>Fine Documentazione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t>Per domande e support:</a:t>
            </a:r>
            <a:br/>
            <a:r>
              <a:t>contatta l'amministratore di sistema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